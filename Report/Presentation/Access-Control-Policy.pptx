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  <p:embeddedFont>
      <p:font typeface="Montserrat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6MmhS3F89OmOf3PX3K5b2eunT3ngUq55/view?usp=drive_link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1057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 Control Policy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74820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4419838"/>
            <a:ext cx="7518440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Building Trust Through Structured Access Control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244709" y="517231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u="sng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 Cybersecurity – GenAI Program Team: Data Defenders (Group 8)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73386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Team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37672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the dedicated individuals who crafted this Access Control Policy 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967157"/>
            <a:ext cx="13113782" cy="3889058"/>
          </a:xfrm>
          <a:prstGeom prst="roundRect">
            <a:avLst>
              <a:gd name="adj" fmla="val 835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2974777"/>
            <a:ext cx="13098542" cy="9684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6048" y="2974777"/>
            <a:ext cx="3274576" cy="968454"/>
          </a:xfrm>
          <a:prstGeom prst="roundRect">
            <a:avLst>
              <a:gd name="adj" fmla="val 33558"/>
            </a:avLst>
          </a:prstGeom>
          <a:solidFill>
            <a:srgbClr val="F4FBFF"/>
          </a:solidFill>
          <a:ln/>
        </p:spPr>
      </p:sp>
      <p:sp>
        <p:nvSpPr>
          <p:cNvPr id="7" name="Text 5"/>
          <p:cNvSpPr/>
          <p:nvPr/>
        </p:nvSpPr>
        <p:spPr>
          <a:xfrm>
            <a:off x="982623" y="3112294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Bharath Vinayak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40624" y="2974777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9" name="Text 7"/>
          <p:cNvSpPr/>
          <p:nvPr/>
        </p:nvSpPr>
        <p:spPr>
          <a:xfrm>
            <a:off x="4261009" y="3112294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Standards Specialist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2974777"/>
            <a:ext cx="6549271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11" name="Text 9"/>
          <p:cNvSpPr/>
          <p:nvPr/>
        </p:nvSpPr>
        <p:spPr>
          <a:xfrm>
            <a:off x="7535585" y="3112294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Ensured ISO 27001 and NIST alignment, validated governance structures.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5929" y="3943231"/>
            <a:ext cx="13098542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6048" y="3943231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2623" y="4080748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Lukesh Singh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40624" y="3943231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61009" y="4080748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Writer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0" y="3943231"/>
            <a:ext cx="6549271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18" name="Text 16"/>
          <p:cNvSpPr/>
          <p:nvPr/>
        </p:nvSpPr>
        <p:spPr>
          <a:xfrm>
            <a:off x="7535585" y="4080748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Conducted raw research, drafted the framework and policy documents.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5929" y="4911685"/>
            <a:ext cx="13098542" cy="9684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6048" y="4911685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2623" y="5049203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40624" y="4911685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61009" y="5049203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Scrum Master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15200" y="4911685"/>
            <a:ext cx="6549271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35585" y="5049203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Coordinated sprints, managed repository structure, and designed diagrams.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65929" y="5880140"/>
            <a:ext cx="13098542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6048" y="5880140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28" name="Text 26"/>
          <p:cNvSpPr/>
          <p:nvPr/>
        </p:nvSpPr>
        <p:spPr>
          <a:xfrm>
            <a:off x="982623" y="6017657"/>
            <a:ext cx="28376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Sumit Patil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040624" y="5880140"/>
            <a:ext cx="3274576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30" name="Text 28"/>
          <p:cNvSpPr/>
          <p:nvPr/>
        </p:nvSpPr>
        <p:spPr>
          <a:xfrm>
            <a:off x="4261009" y="6017657"/>
            <a:ext cx="283380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 Lead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315200" y="5880140"/>
            <a:ext cx="6549271" cy="968454"/>
          </a:xfrm>
          <a:prstGeom prst="rect">
            <a:avLst/>
          </a:prstGeom>
          <a:solidFill>
            <a:srgbClr val="F4FBFF"/>
          </a:solidFill>
          <a:ln/>
        </p:spPr>
      </p:sp>
      <p:sp>
        <p:nvSpPr>
          <p:cNvPr id="32" name="Text 30"/>
          <p:cNvSpPr/>
          <p:nvPr/>
        </p:nvSpPr>
        <p:spPr>
          <a:xfrm>
            <a:off x="7535585" y="6017657"/>
            <a:ext cx="61123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Finalized content, consolidated documentation, and ensured governance alignment.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80974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Problem &amp; Objective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02218" y="2975967"/>
            <a:ext cx="6604754" cy="3172539"/>
          </a:xfrm>
          <a:prstGeom prst="roundRect">
            <a:avLst>
              <a:gd name="adj" fmla="val 16390"/>
            </a:avLst>
          </a:prstGeom>
          <a:solidFill>
            <a:srgbClr val="E5F6FF"/>
          </a:solidFill>
          <a:ln/>
        </p:spPr>
      </p:sp>
      <p:sp>
        <p:nvSpPr>
          <p:cNvPr id="4" name="Text 2"/>
          <p:cNvSpPr/>
          <p:nvPr/>
        </p:nvSpPr>
        <p:spPr>
          <a:xfrm>
            <a:off x="818793" y="319254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8793" y="3765352"/>
            <a:ext cx="6171605" cy="138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Increasing identity-based attacks &amp; privilege misuse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Policies often exist without implementation clarity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pressure (ISO 27001, NIST, GDPR)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audit visibility in access lifecycle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31048" y="2975967"/>
            <a:ext cx="6604754" cy="3172539"/>
          </a:xfrm>
          <a:prstGeom prst="roundRect">
            <a:avLst>
              <a:gd name="adj" fmla="val 16390"/>
            </a:avLst>
          </a:prstGeom>
          <a:solidFill>
            <a:srgbClr val="E5F6FF"/>
          </a:solidFill>
          <a:ln/>
        </p:spPr>
      </p:sp>
      <p:sp>
        <p:nvSpPr>
          <p:cNvPr id="7" name="Text 5"/>
          <p:cNvSpPr/>
          <p:nvPr/>
        </p:nvSpPr>
        <p:spPr>
          <a:xfrm>
            <a:off x="7647623" y="319254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7623" y="3765352"/>
            <a:ext cx="6171605" cy="207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a governance-ready Access Control Framework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policy, implementation, compliance &amp; training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 with international security standards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scalability for hybrid/cloud environments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61799"/>
            <a:ext cx="7009328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Five-Core Deliverable Architecture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2065139"/>
            <a:ext cx="4226838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747" y="2289334"/>
            <a:ext cx="649962" cy="64996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5460" y="2468047"/>
            <a:ext cx="292418" cy="292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6371" y="315587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Policy Framework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82504" y="3642003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Defines governance structure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01722" y="2065139"/>
            <a:ext cx="4226838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159" y="2289334"/>
            <a:ext cx="649962" cy="64996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8872" y="2468047"/>
            <a:ext cx="292418" cy="2924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9784" y="315587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 Control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25916" y="3642003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Mandatory access requirements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9645134" y="2065139"/>
            <a:ext cx="4226957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3572" y="2289334"/>
            <a:ext cx="649962" cy="64996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12285" y="2468047"/>
            <a:ext cx="292418" cy="2924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73283" y="3155871"/>
            <a:ext cx="33706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Implementation Guidelines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9329" y="3642003"/>
            <a:ext cx="377856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execution model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758309" y="4429482"/>
            <a:ext cx="6448544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653677"/>
            <a:ext cx="649962" cy="64996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6313" y="4832390"/>
            <a:ext cx="292418" cy="29241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557224" y="55202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Compliance Checklist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982504" y="6006346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control validation</a:t>
            </a:r>
            <a:endParaRPr lang="en-US" sz="1700" dirty="0"/>
          </a:p>
        </p:txBody>
      </p:sp>
      <p:sp>
        <p:nvSpPr>
          <p:cNvPr id="23" name="Shape 13"/>
          <p:cNvSpPr/>
          <p:nvPr/>
        </p:nvSpPr>
        <p:spPr>
          <a:xfrm>
            <a:off x="7423428" y="4429482"/>
            <a:ext cx="6448663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2719" y="4653677"/>
            <a:ext cx="649962" cy="649962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01432" y="4832390"/>
            <a:ext cx="292418" cy="29241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217223" y="5520214"/>
            <a:ext cx="286095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Training Requirements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7647623" y="6006346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Awareness &amp; accountability</a:t>
            </a:r>
            <a:endParaRPr lang="en-US" sz="1700" dirty="0"/>
          </a:p>
        </p:txBody>
      </p:sp>
      <p:sp>
        <p:nvSpPr>
          <p:cNvPr id="28" name="Text 16"/>
          <p:cNvSpPr/>
          <p:nvPr/>
        </p:nvSpPr>
        <p:spPr>
          <a:xfrm>
            <a:off x="758309" y="682097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→ Controls → Execution → Audit → Awareness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42649"/>
            <a:ext cx="712291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Security Principles Embedded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3037642"/>
            <a:ext cx="7627382" cy="207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 of Least Privilege (PoLP)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RBAC + ABAC hybrid model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Multi-Factor Authentication (MFA mandate)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Privileged Access Management (JIT, Vaulting, Session Logging)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 alignment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Periodic Access Reviews (Quarterly / Annual)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36132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prevent privilege creep and unauthorized access.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02306"/>
            <a:ext cx="5276969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Governance &amp; Compliance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958935"/>
            <a:ext cx="348912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Enterprise-Level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309" y="2640092"/>
            <a:ext cx="6448544" cy="850344"/>
          </a:xfrm>
          <a:prstGeom prst="roundRect">
            <a:avLst>
              <a:gd name="adj" fmla="val 17205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29" y="2640092"/>
            <a:ext cx="121920" cy="850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6804" y="2887147"/>
            <a:ext cx="50614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ISO 27001 (Annex A.9 / A.5.15) alignment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23428" y="2640092"/>
            <a:ext cx="6448663" cy="850344"/>
          </a:xfrm>
          <a:prstGeom prst="roundRect">
            <a:avLst>
              <a:gd name="adj" fmla="val 17205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48" y="2640092"/>
            <a:ext cx="121920" cy="850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61923" y="2887147"/>
            <a:ext cx="450651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NIST SP 800-53 &amp; 800-63B mapping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58309" y="3707011"/>
            <a:ext cx="6448544" cy="1206579"/>
          </a:xfrm>
          <a:prstGeom prst="roundRect">
            <a:avLst>
              <a:gd name="adj" fmla="val 121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3707011"/>
            <a:ext cx="121920" cy="12065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6804" y="3954066"/>
            <a:ext cx="56955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Structured review cycles (Quarterly / Annual)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7423428" y="3707011"/>
            <a:ext cx="6448663" cy="1206579"/>
          </a:xfrm>
          <a:prstGeom prst="roundRect">
            <a:avLst>
              <a:gd name="adj" fmla="val 121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48" y="3707011"/>
            <a:ext cx="121920" cy="12065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61923" y="3954066"/>
            <a:ext cx="586311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Exception Management &amp; Break-Glass process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758309" y="5130165"/>
            <a:ext cx="6448544" cy="1206579"/>
          </a:xfrm>
          <a:prstGeom prst="roundRect">
            <a:avLst>
              <a:gd name="adj" fmla="val 121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5130165"/>
            <a:ext cx="121920" cy="120657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6804" y="5377220"/>
            <a:ext cx="586299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Defined KPIs (Provisioning time, Recertification rate)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7423428" y="5130165"/>
            <a:ext cx="6448663" cy="1206579"/>
          </a:xfrm>
          <a:prstGeom prst="roundRect">
            <a:avLst>
              <a:gd name="adj" fmla="val 121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948" y="5130165"/>
            <a:ext cx="121920" cy="120657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761923" y="5377220"/>
            <a:ext cx="46224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Audit-ready documentation lifecycle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758309" y="658046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regulatory, operational, and risk compliance.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28556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Roadmap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485186"/>
            <a:ext cx="3604498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Sprint-Based Execution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58309" y="2237661"/>
            <a:ext cx="13113782" cy="2126099"/>
          </a:xfrm>
          <a:prstGeom prst="roundRect">
            <a:avLst>
              <a:gd name="adj" fmla="val 1528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2245281"/>
            <a:ext cx="6549271" cy="2110859"/>
          </a:xfrm>
          <a:prstGeom prst="roundRect">
            <a:avLst>
              <a:gd name="adj" fmla="val 15396"/>
            </a:avLst>
          </a:prstGeom>
          <a:solidFill>
            <a:srgbClr val="D4E9F7"/>
          </a:solidFill>
          <a:ln/>
        </p:spPr>
      </p:sp>
      <p:sp>
        <p:nvSpPr>
          <p:cNvPr id="6" name="Text 4"/>
          <p:cNvSpPr/>
          <p:nvPr/>
        </p:nvSpPr>
        <p:spPr>
          <a:xfrm>
            <a:off x="1876782" y="2461855"/>
            <a:ext cx="432744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Sprint 1 – Research &amp; Raw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2504" y="2947988"/>
            <a:ext cx="611612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Multi-AI research (ChatGPT, Gemini, Claude)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&amp; policy structure creation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Repository setup &amp; document hierarchy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2245281"/>
            <a:ext cx="6549271" cy="2110859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245281"/>
            <a:ext cx="30480" cy="2110859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0" name="Text 8"/>
          <p:cNvSpPr/>
          <p:nvPr/>
        </p:nvSpPr>
        <p:spPr>
          <a:xfrm>
            <a:off x="7642979" y="2461855"/>
            <a:ext cx="5893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Sprint 2 – Refinement &amp; Governance Alignment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31775" y="2947988"/>
            <a:ext cx="611612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Consolidation of raw drafts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mapping &amp; compliance integration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documentation &amp; formatting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46886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Blockers: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309" y="5369838"/>
            <a:ext cx="1311378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synthesis overload                                                  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control coordination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management for standups</a:t>
            </a:r>
            <a:endParaRPr lang="en-US" sz="1700" dirty="0"/>
          </a:p>
        </p:txBody>
      </p:sp>
      <p:pic>
        <p:nvPicPr>
          <p:cNvPr id="1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9398" y="6805136"/>
            <a:ext cx="1542693" cy="595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341239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2236232"/>
            <a:ext cx="7627382" cy="17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Consolidating multi-source AI research into one cohesive document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Aligning all deliverables with ISO &amp; NIST standards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GitHub version control during parallel research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consistency across six major documents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294452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Actions Taken: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58309" y="5046927"/>
            <a:ext cx="7627382" cy="138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Iterative peer review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formatting standard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ownership roles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Sprint-based refinement model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32773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Learning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223611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2326" y="2310527"/>
            <a:ext cx="613029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Governance is as important as technical controls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309" y="315682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2326" y="3231237"/>
            <a:ext cx="55550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Policy without implementation is ineffective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309" y="4077533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2326" y="4151947"/>
            <a:ext cx="84570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Multi-AI research improves validation but requires human synthesis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58309" y="499824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2326" y="5072658"/>
            <a:ext cx="62776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Documentation structure impacts audit readiness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8309" y="591895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2326" y="5993368"/>
            <a:ext cx="583382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Collaboration &amp; role clarity accelerate delivery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309" y="665011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for future security governance projects.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99692"/>
            <a:ext cx="4572476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Scope of Improvement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3303032"/>
            <a:ext cx="13113782" cy="17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Policy-as-Code (OPA automation)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automated risk scoring for access requests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Zero Trust architectural diagrams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Simulate real-world audit walkthrough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more KPI dashboards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528005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by time and sprint duration.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096810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Readiness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44709" y="2753439"/>
            <a:ext cx="6849189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Building a Scalable Access Governance Model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44709" y="3505914"/>
            <a:ext cx="7627382" cy="203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 Architecture integration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AI-based anomaly detection &amp; behavioral monitoring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Adaptive, risk-based authentication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 lifecycle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Enterprise-ready governance scalability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578608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documentation to operational maturity.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726" y="811173"/>
            <a:ext cx="3998476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Reflection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4726" y="1643777"/>
            <a:ext cx="13300948" cy="5774650"/>
          </a:xfrm>
          <a:prstGeom prst="roundRect">
            <a:avLst>
              <a:gd name="adj" fmla="val 49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346" y="1651397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2465" y="1651397"/>
            <a:ext cx="2641163" cy="443032"/>
          </a:xfrm>
          <a:prstGeom prst="roundRect">
            <a:avLst>
              <a:gd name="adj" fmla="val 643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62370" y="1758910"/>
            <a:ext cx="2257544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3628" y="1651397"/>
            <a:ext cx="3204448" cy="443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07343" y="1758910"/>
            <a:ext cx="281701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Observed Member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18077" y="1651397"/>
            <a:ext cx="7439978" cy="443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711791" y="1758910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346" y="2094428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2465" y="2094428"/>
            <a:ext cx="2641163" cy="1329095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2370" y="2201942"/>
            <a:ext cx="2257544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Bharath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3628" y="2094428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07343" y="2201942"/>
            <a:ext cx="281701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Lukesh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18077" y="2094428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11791" y="2201942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research depth and technical drafting capability.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346" y="2537460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313628" y="2537460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03533" y="2644973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18077" y="2537460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791" y="2644973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Effective sprint coordination and structured workflow management.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346" y="2980492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13628" y="2980492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03533" y="3088005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18077" y="2980492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11791" y="3088005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Excellent consolidation and professional documentation skills.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346" y="3423523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62370" y="3531037"/>
            <a:ext cx="2257544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Lukesh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07343" y="3531037"/>
            <a:ext cx="281701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Bharath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11791" y="3531037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understanding of standards and governance alignment.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346" y="3866555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03533" y="3974068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11791" y="3974068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Maintained team discipline and repository organization.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2346" y="4309586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503533" y="4417100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Sumit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11791" y="4417100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Transformed raw drafts into polished, governance-ready documents.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2346" y="4752618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72465" y="4752618"/>
            <a:ext cx="2641163" cy="1329095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862370" y="4860131"/>
            <a:ext cx="2257544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313628" y="4752618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3507343" y="4860131"/>
            <a:ext cx="281701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Bharath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18077" y="4752618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711791" y="4860131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Ensured regulatory and standards compliance throughout.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72346" y="5195649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313628" y="5195649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3503533" y="5303163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Lukesh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18077" y="5195649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11791" y="5303163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Provided extensive raw research and detailed framework inputs.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72346" y="5638681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313628" y="5638681"/>
            <a:ext cx="320444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52" name="Text 50"/>
          <p:cNvSpPr/>
          <p:nvPr/>
        </p:nvSpPr>
        <p:spPr>
          <a:xfrm>
            <a:off x="3503533" y="5746194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Sumit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518077" y="5638681"/>
            <a:ext cx="7439978" cy="443032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11791" y="5746194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Maintained consistency and formatting across all deliverables.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72346" y="6081713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62370" y="6189226"/>
            <a:ext cx="2257544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Sumit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507343" y="6189226"/>
            <a:ext cx="281701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Bharath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711791" y="6189226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Brought strategic governance clarity to the framework.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72346" y="6524744"/>
            <a:ext cx="13285708" cy="4430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503533" y="6632258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Lukesh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711791" y="6632258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Contributed comprehensive technical drafting and research.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72346" y="6967776"/>
            <a:ext cx="13285708" cy="4430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503533" y="7075289"/>
            <a:ext cx="2820829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Sneha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711791" y="7075289"/>
            <a:ext cx="7056358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Ensured agile coordination and structured project flow.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2026-02-14T07:17:46Z</dcterms:created>
  <dcterms:modified xsi:type="dcterms:W3CDTF">2026-02-14T07:17:46Z</dcterms:modified>
</cp:coreProperties>
</file>